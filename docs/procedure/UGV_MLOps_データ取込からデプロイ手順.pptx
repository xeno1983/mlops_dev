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UGV MLOps 操作手順書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データ取り込みから車載デプロイまで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実際のポータル画面に沿った 8 工程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7EB6FF"/>
                </a:solidFill>
                <a:latin typeface="Yu Gothic UI"/>
                <a:ea typeface="Yu Gothic UI"/>
                <a:cs typeface="Yu Gothic UI"/>
              </a:rPr>
              <a:t>入口  http://127.0.0.1:8080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オンプレ OSS ／ クラウド API なし ／ 機密サンプルは学習セットに入れない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全体の流れ（8 工程）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2344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64591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帰還データを置く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inbox フォルダへ bag / 画像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5156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2344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64591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カタログへ取り込む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パース・Garage 保管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5156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2344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64591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ラベルを付ける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LS / SALT / Xtreme1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05156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12344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164591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データセットを切る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知覚 / 検出 / E2E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5760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251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学習する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指標は MLflow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65760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4251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評価して通す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ゲート + 署名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65760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251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車載パッケージ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S3 / S1 向け zip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657600"/>
            <a:ext cx="2743200" cy="2286000"/>
          </a:xfrm>
          <a:prstGeom prst="round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工程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4251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UGV へ同期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チャンク配送 → 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起動して入口を開く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1. Docker Desktop を起動する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2. ランチャーで「中核スタック起動」または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    docker compose up -d --no-build --pull never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3. ブラウザは localhost ではなく 127.0.0.1 を使う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EB6FF"/>
                </a:solidFill>
                <a:latin typeface="Yu Gothic UI"/>
                <a:ea typeface="Yu Gothic UI"/>
                <a:cs typeface="Yu Gothic UI"/>
              </a:rPr>
              <a:t>ポータル　http://127.0.0.1:8080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Catalog　http://127.0.0.1:8000/docs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MLflow　　http://127.0.0.1:5000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Label Studio　http://127.0.0.1:8081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0B15B"/>
                </a:solidFill>
                <a:latin typeface="Yu Gothic UI"/>
                <a:ea typeface="Yu Gothic UI"/>
                <a:cs typeface="Yu Gothic UI"/>
              </a:rPr>
              <a:t>初期ログイン（機密区画では必ず変更）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Label Studio  admin@ugv.local / label_change_me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ダッシュボード — いまやること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「いまやること」と工程カードから次の作業に進みます。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55878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データタブ — 撮りためた中身を見る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ミッションを選ぶとカメラ・cmd_vel / IMU・LiDAR（上から）が出ます。</a:t>
            </a:r>
          </a:p>
        </p:txBody>
      </p:sp>
      <p:pic>
        <p:nvPicPr>
          <p:cNvPr id="6" name="Picture 5" descr="03_data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611341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8 工程フロー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上のカードを押すと、その工程の実行フォームが下に出ます。Swagger を開く必要はありません。</a:t>
            </a:r>
          </a:p>
        </p:txBody>
      </p:sp>
      <p:pic>
        <p:nvPicPr>
          <p:cNvPr id="6" name="Picture 5" descr="04_flow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55878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工程1  帰還データを置く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ホストの data\inbox\&lt;mission_id&gt;\ にコピーします。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ROS2 bag（metadata.yaml + .db3 / .mcap）でも、展開済み画像でも可。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ポータルでフォルダを再読込して、一覧に出たことを確認。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サンプル bag は M-AVBAG-001（公開 CostNav を短く切ったもの）。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確認できたら「取込へ進む」。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8932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E0B15B"/>
                </a:solidFill>
                <a:latin typeface="Yu Gothic UI"/>
                <a:ea typeface="Yu Gothic UI"/>
                <a:cs typeface="Yu Gothic UI"/>
              </a:rPr>
              <a:t>inbox はまだ Catalog に入る前の置き場です。</a:t>
            </a:r>
          </a:p>
        </p:txBody>
      </p:sp>
      <p:pic>
        <p:nvPicPr>
          <p:cNvPr id="7" name="Picture 6" descr="05_step1_col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工程2  カタログへ取り込む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inbox のフォルダを選ぶ（または名前を入力）。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種別は dropzone（自動判定）でよい。bag なら rosbag。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「取込を実行」→ ジョブが completed になるまで待つ。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中ではコピー → パース（JPEG / LiDAR / cmd_vel）→ DVC 追跡 → Garage 保管。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データタブでカメラと点群が出れば成功。</a:t>
            </a:r>
          </a:p>
        </p:txBody>
      </p:sp>
      <p:pic>
        <p:nvPicPr>
          <p:cNvPr id="6" name="Picture 5" descr="06_step2_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工程3  ラベルを付ける（ツールを選ぶ）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ミッションを選ぶ。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アノテーションツールを選ぶ。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・Label Studio … 画像クラス / bbox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・SALT … LiDAR 点群（WSL GUI）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・Xtreme1 … カメラと点群の確認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「作業データを出す」で data\annotate に書き出す。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SALT / Xtreme1 の結果 jsonl は「結果を Catalog に戻す」。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E2E（cmd_vel 教師）はスキップして工程4へ。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8932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E0B15B"/>
                </a:solidFill>
                <a:latin typeface="Yu Gothic UI"/>
                <a:ea typeface="Yu Gothic UI"/>
                <a:cs typeface="Yu Gothic UI"/>
              </a:rPr>
              <a:t>知覚はラベル必須。未ラベルのまま obstacle_cls / detection は切れません。</a:t>
            </a:r>
          </a:p>
        </p:txBody>
      </p:sp>
      <p:pic>
        <p:nvPicPr>
          <p:cNvPr id="7" name="Picture 6" descr="07_step3_anno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工程3  Label Studio（画像）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ツールに Label Studio を選んで投入する。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http://127.0.0.1:8081 でログイン。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プロジェクト UGV-obstacle-cls。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クラスは clear / obstacle / person。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データセット構築時に Catalog が export して annotation へ戻す。</a:t>
            </a:r>
          </a:p>
        </p:txBody>
      </p:sp>
      <p:pic>
        <p:nvPicPr>
          <p:cNvPr id="6" name="Picture 5" descr="14_step3_label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Label Studio 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admin@ugv.local / label_change_me（デモ初期値）</a:t>
            </a:r>
          </a:p>
        </p:txBody>
      </p:sp>
      <p:pic>
        <p:nvPicPr>
          <p:cNvPr id="6" name="Picture 5" descr="16_label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55878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工程3  SALT（点群）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ツールに SALT 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点群が data\annotate\&lt;mission&gt;\lidar に .pcd で出る。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WSL Ubuntu-24.04、conda 環境 SALT で GUI を開く。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塗った結果を export.jsonl（各行 sample_id + label_json）に書く。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工程3の「結果を Catalog に戻す」。</a:t>
            </a:r>
          </a:p>
        </p:txBody>
      </p:sp>
      <p:pic>
        <p:nvPicPr>
          <p:cNvPr id="6" name="Picture 5" descr="07_step3_anno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工程3  Xtreme1（確認）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ツールに Xtreme1 を選ぶと画像と .pcd を出す。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http://127.0.0.1:8190 を開く（Autoware compose。本スタック外）。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初回は画面の Sign up。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箱検出の確認用。Freespace マスクには使わない。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書き出しがあれば export.jsonl を戻す。</a:t>
            </a:r>
          </a:p>
        </p:txBody>
      </p:sp>
      <p:pic>
        <p:nvPicPr>
          <p:cNvPr id="6" name="Picture 5" descr="13_step3_xtrem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工程4  学習用データセットを切る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データセット ID と表示名を入れる。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タスクを選ぶ。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・obstacle_cls … 知覚分類（ラベル必須）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・detection … YOLOX（bbox）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・e2e … カメラ + cmd_vel（人手ラベル不要）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「データセットを生成」。版 ID（例 ds-av-rosbag-v2）を控える。</a:t>
            </a:r>
          </a:p>
        </p:txBody>
      </p:sp>
      <p:pic>
        <p:nvPicPr>
          <p:cNvPr id="6" name="Picture 5" descr="08_step4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工程5  学習する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データセット版を選ぶ。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学習段は前線 S3（既定）または後方 S4。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「学習を実行」。run_id を控える。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指標は MLflow http://127.0.0.1:5000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  分類=精度、検出=mAP@0.5、E2E=mae_steer / mae_speed。</a:t>
            </a:r>
          </a:p>
        </p:txBody>
      </p:sp>
      <p:pic>
        <p:nvPicPr>
          <p:cNvPr id="6" name="Picture 5" descr="09_step5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MLflow — 学習指標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実験 ugv-obstacle-cls / ugv-e2e / 検出。run を開いて metrics を確認します。</a:t>
            </a:r>
          </a:p>
        </p:txBody>
      </p:sp>
      <p:pic>
        <p:nvPicPr>
          <p:cNvPr id="6" name="Picture 5" descr="17_ml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55878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工程6  評価して通す（ゲート）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学習 run 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ゲートは staging または production。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「ゲートを実行」。通ると model_id と署名が付く。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閾値は configs/artifact_policy.yaml。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公開サンプルの短いクリップは smoke（デモ専用）。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不合格なら reasons を読んでデータを足すか閾値を見直す。</a:t>
            </a:r>
          </a:p>
        </p:txBody>
      </p:sp>
      <p:pic>
        <p:nvPicPr>
          <p:cNvPr id="6" name="Picture 5" descr="10_step6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工程7  車載パッケージを作る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ゲート合格モデル（staging / canary / production）を選ぶ。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対象段階 S3（前線）または S1（車載・小さい成果物のみ）。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「パッケージを作る」。Garage packages に zip。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フル重みは S3/S4。S1 はアダプタ等の小さいものだけ。</a:t>
            </a:r>
          </a:p>
        </p:txBody>
      </p:sp>
      <p:pic>
        <p:nvPicPr>
          <p:cNvPr id="6" name="Picture 5" descr="11_step7_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工程8  UGV へ差分同期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パッケージと車両 ID（例 UGV-01）を入れる。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「同期を実行」。チャンク送信までこの画面で完了する。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全部送れると acked。失敗時はロールバック。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OS イメージ更新とは分け、モデル zip だけを送る。</a:t>
            </a:r>
          </a:p>
        </p:txBody>
      </p:sp>
      <p:pic>
        <p:nvPicPr>
          <p:cNvPr id="6" name="Picture 5" descr="12_step8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デプロイ後 — 課題を追跡する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課題タブで、デプロイ済みモデルに紐づけて起票。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着手 → 解決（または対応しない / 再オープン）。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ダッシュボードの「未解決課題」から同じ一覧に入れる。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再現データは inbox に戻して工程2から再学習できる。</a:t>
            </a:r>
          </a:p>
        </p:txBody>
      </p:sp>
      <p:pic>
        <p:nvPicPr>
          <p:cNvPr id="6" name="Picture 5" descr="15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一気通貫の確認（デモ）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3A3B3"/>
                </a:solidFill>
                <a:latin typeface="Yu Gothic UI"/>
                <a:ea typeface="Yu Gothic UI"/>
                <a:cs typeface="Yu Gothic UI"/>
              </a:rPr>
              <a:t>ポータル右上: 知覚デモ / E2Eデモ / YOLOXデモ / rosbag2デモ。rosbag2 は公開 CostNav を inbox の M-AVBAG-001 に載せて E2E まで回します。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55878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画面の場所と初期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347472"/>
          </a:xfrm>
          <a:prstGeom prst="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02412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URL / 場所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24128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DD6C6"/>
                </a:solidFill>
                <a:latin typeface="Yu Gothic UI"/>
                <a:ea typeface="Yu Gothic UI"/>
                <a:cs typeface="Yu Gothic UI"/>
              </a:rPr>
              <a:t>ID / パスワード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1247120" cy="621792"/>
          </a:xfrm>
          <a:prstGeom prst="rect">
            <a:avLst/>
          </a:prstGeom>
          <a:solidFill>
            <a:srgbClr val="1A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ポータル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49961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http://127.0.0.1:8080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49961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なし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48256"/>
            <a:ext cx="11247120" cy="621792"/>
          </a:xfrm>
          <a:prstGeom prst="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5798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Catalog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15798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http://127.0.0.1:8000/docs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157984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なし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06624"/>
            <a:ext cx="11247120" cy="621792"/>
          </a:xfrm>
          <a:prstGeom prst="rect">
            <a:avLst/>
          </a:prstGeom>
          <a:solidFill>
            <a:srgbClr val="1A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163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MLflow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8163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http://127.0.0.1:5000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16352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1"/>
            <a:ext cx="11247120" cy="621792"/>
          </a:xfrm>
          <a:prstGeom prst="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747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Label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47472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http://127.0.0.1:8081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747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admin@ugv.local / label_change_me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59"/>
            <a:ext cx="11247120" cy="621792"/>
          </a:xfrm>
          <a:prstGeom prst="rect">
            <a:avLst/>
          </a:prstGeom>
          <a:solidFill>
            <a:srgbClr val="1A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33087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Garage 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133087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http://127.0.0.1:9000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133087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Access Key は .env（コンソールなし）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81727"/>
            <a:ext cx="11247120" cy="621792"/>
          </a:xfrm>
          <a:prstGeom prst="rect">
            <a:avLst/>
          </a:prstGeom>
          <a:solidFill>
            <a:srgbClr val="1A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91455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Xtreme1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791455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http://127.0.0.1:8190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791455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初回 Sign up（本 compose 外）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0095"/>
            <a:ext cx="11247120" cy="621792"/>
          </a:xfrm>
          <a:prstGeom prst="rect">
            <a:avLst/>
          </a:prstGeom>
          <a:solidFill>
            <a:srgbClr val="17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9823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SALT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449823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WSL Ubuntu-24.04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449823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ログインなし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0B15B"/>
                </a:solidFill>
                <a:latin typeface="Yu Gothic UI"/>
                <a:ea typeface="Yu Gothic UI"/>
                <a:cs typeface="Yu Gothic UI"/>
              </a:rPr>
              <a:t>値は .env のデモ初期値です。機密区画・本番では起動前に必ず変更してください。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運用上の注意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知覚（分類・検出）はラベルなしでデータセットを切らない。E2E は cmd_vel が教師なので工程3をスキップ可。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UNCLASSIFIED 以外のサンプルは解除するまで学習セットに入らない。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公開 rosbag2 デモは短いクリップ確認用。ゲートは smoke。実任務モデルは staging / production。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SALT / Xtreme1 は本 compose に載せない。工程3で作業ファイルを data/annotate に出してから各 GUI を使う。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Xtreme1 の MinIO（:8193/:8194）と本スタックの Garage（:9000）は別。キーを混ぜない。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ブラウザは http://127.0.0.1:... を使う（localhost だと IPv6 で失敗することがある）。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・ 失敗ジョブはダッシュボードの「最近の動き」か GET /jobs/{id} の error / reasons を見る。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関連資料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docs/usage.md　日常操作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docs/annotation.md　Label Studio / SALT / Xtreme1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docs/workflow.md　四脚 PJ との層対応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7EEF4"/>
                </a:solidFill>
                <a:latin typeface="Yu Gothic UI"/>
                <a:ea typeface="Yu Gothic UI"/>
                <a:cs typeface="Yu Gothic UI"/>
              </a:rPr>
              <a:t>docs/setup-windows.md　新しい Windows PC への構築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